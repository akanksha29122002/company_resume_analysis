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0000000" cy="5625000" type="wide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/Relationships>
</file>

<file path=ppt/slides/_rels/slide1.xml.rels>
</file>

<file path=ppt/slides/_rels/slide2.xml.rels>
</file>

<file path=ppt/slides/_rels/slide3.xml.rels>
</file>

<file path=ppt/slides/_rels/slide4.xml.rels>
</file>

<file path=ppt/slides/_rels/slide5.xml.rels>
</file>

<file path=ppt/slides/_rels/slide6.xml.rels>
</file>

<file path=ppt/slides/_rels/slide7.xml.rels>
</file>

<file path=ppt/slides/_rels/slide8.xml.rels>
</file>

<file path=ppt/slides/_rels/slide9.xml.rels>
</file>

<file path=ppt/slides/_rels/slide10.xml.rels>
</file>

<file path=ppt/slides/_rels/slide11.xml.rels>
</file>

<file path=ppt/slides/_rels/slide12.xml.rel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50000" y="520000"/>
            <a:ext cx="8200000" cy="850000"/>
          </a:xfrm>
        </p:spPr>
        <p:txBody>
          <a:bodyPr/>
          <a:lstStyle/>
          <a:p>
            <a:r>
              <a:rPr lang="en-US" sz="4200" b="1">
                <a:solidFill>
                  <a:srgbClr val="0F172A"/>
                </a:solidFill>
              </a:rPr>
              <a:t>AI Resume Analyzer</a:t>
            </a:r>
          </a:p>
        </p:txBody>
      </p:sp>
      <p:sp>
        <p:nvSpPr>
          <p:cNvPr id="1800000" name="Bullet"/>
          <p:cNvSpPr/>
          <p:nvPr/>
        </p:nvSpPr>
        <p:spPr>
          <a:xfrm>
            <a:off x="850000" y="1800000"/>
            <a:ext cx="7600000" cy="420000"/>
          </a:xfrm>
        </p:spPr>
        <p:txBody>
          <a:bodyPr/>
          <a:lstStyle/>
          <a:p>
            <a:r>
              <a:rPr lang="en-US" sz="2600"/>
              <a:t>Company Knowledge Bank using Streamlit, Apps Script, and Pinecone</a:t>
            </a:r>
          </a:p>
        </p:txBody>
      </p:sp>
      <p:sp>
        <p:nvSpPr>
          <p:cNvPr id="2360000" name="Bullet"/>
          <p:cNvSpPr/>
          <p:nvPr/>
        </p:nvSpPr>
        <p:spPr>
          <a:xfrm>
            <a:off x="850000" y="2360000"/>
            <a:ext cx="7600000" cy="420000"/>
          </a:xfrm>
        </p:spPr>
        <p:txBody>
          <a:bodyPr/>
          <a:lstStyle/>
          <a:p>
            <a:r>
              <a:rPr lang="en-US" sz="2600"/>
              <a:t>Final Year 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50000" y="520000"/>
            <a:ext cx="8200000" cy="850000"/>
          </a:xfrm>
        </p:spPr>
        <p:txBody>
          <a:bodyPr/>
          <a:lstStyle/>
          <a:p>
            <a:r>
              <a:rPr lang="en-US" sz="4200" b="1">
                <a:solidFill>
                  <a:srgbClr val="0F172A"/>
                </a:solidFill>
              </a:rPr>
              <a:t>Introduction</a:t>
            </a:r>
          </a:p>
        </p:txBody>
      </p:sp>
      <p:sp>
        <p:nvSpPr>
          <p:cNvPr id="1800000" name="Bullet"/>
          <p:cNvSpPr/>
          <p:nvPr/>
        </p:nvSpPr>
        <p:spPr>
          <a:xfrm>
            <a:off x="850000" y="1800000"/>
            <a:ext cx="7600000" cy="420000"/>
          </a:xfrm>
        </p:spPr>
        <p:txBody>
          <a:bodyPr/>
          <a:lstStyle/>
          <a:p>
            <a:r>
              <a:rPr lang="en-US" sz="2600"/>
              <a:t>Resume screening is an important recruitment step.</a:t>
            </a:r>
          </a:p>
        </p:txBody>
      </p:sp>
      <p:sp>
        <p:nvSpPr>
          <p:cNvPr id="2360000" name="Bullet"/>
          <p:cNvSpPr/>
          <p:nvPr/>
        </p:nvSpPr>
        <p:spPr>
          <a:xfrm>
            <a:off x="850000" y="2360000"/>
            <a:ext cx="7600000" cy="420000"/>
          </a:xfrm>
        </p:spPr>
        <p:txBody>
          <a:bodyPr/>
          <a:lstStyle/>
          <a:p>
            <a:r>
              <a:rPr lang="en-US" sz="2600"/>
              <a:t>Companies need a searchable active resume pool.</a:t>
            </a:r>
          </a:p>
        </p:txBody>
      </p:sp>
      <p:sp>
        <p:nvSpPr>
          <p:cNvPr id="2920000" name="Bullet"/>
          <p:cNvSpPr/>
          <p:nvPr/>
        </p:nvSpPr>
        <p:spPr>
          <a:xfrm>
            <a:off x="850000" y="2920000"/>
            <a:ext cx="7600000" cy="420000"/>
          </a:xfrm>
        </p:spPr>
        <p:txBody>
          <a:bodyPr/>
          <a:lstStyle/>
          <a:p>
            <a:r>
              <a:rPr lang="en-US" sz="2600"/>
              <a:t>Company history and growth should influence hiring decisions.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50000" y="520000"/>
            <a:ext cx="8200000" cy="850000"/>
          </a:xfrm>
        </p:spPr>
        <p:txBody>
          <a:bodyPr/>
          <a:lstStyle/>
          <a:p>
            <a:r>
              <a:rPr lang="en-US" sz="4200" b="1">
                <a:solidFill>
                  <a:srgbClr val="0F172A"/>
                </a:solidFill>
              </a:rPr>
              <a:t>Problem Statement</a:t>
            </a:r>
          </a:p>
        </p:txBody>
      </p:sp>
      <p:sp>
        <p:nvSpPr>
          <p:cNvPr id="1800000" name="Bullet"/>
          <p:cNvSpPr/>
          <p:nvPr/>
        </p:nvSpPr>
        <p:spPr>
          <a:xfrm>
            <a:off x="850000" y="1800000"/>
            <a:ext cx="7600000" cy="420000"/>
          </a:xfrm>
        </p:spPr>
        <p:txBody>
          <a:bodyPr/>
          <a:lstStyle/>
          <a:p>
            <a:r>
              <a:rPr lang="en-US" sz="2600"/>
              <a:t>Manual company resume review is slow.</a:t>
            </a:r>
          </a:p>
        </p:txBody>
      </p:sp>
      <p:sp>
        <p:nvSpPr>
          <p:cNvPr id="2360000" name="Bullet"/>
          <p:cNvSpPr/>
          <p:nvPr/>
        </p:nvSpPr>
        <p:spPr>
          <a:xfrm>
            <a:off x="850000" y="2360000"/>
            <a:ext cx="7600000" cy="420000"/>
          </a:xfrm>
        </p:spPr>
        <p:txBody>
          <a:bodyPr/>
          <a:lstStyle/>
          <a:p>
            <a:r>
              <a:rPr lang="en-US" sz="2600"/>
              <a:t>Recruiters need the best resume whenever a new role arrives.</a:t>
            </a:r>
          </a:p>
        </p:txBody>
      </p:sp>
      <p:sp>
        <p:nvSpPr>
          <p:cNvPr id="2920000" name="Bullet"/>
          <p:cNvSpPr/>
          <p:nvPr/>
        </p:nvSpPr>
        <p:spPr>
          <a:xfrm>
            <a:off x="850000" y="2920000"/>
            <a:ext cx="7600000" cy="420000"/>
          </a:xfrm>
        </p:spPr>
        <p:txBody>
          <a:bodyPr/>
          <a:lstStyle/>
          <a:p>
            <a:r>
              <a:rPr lang="en-US" sz="2600"/>
              <a:t>Matching should consider establishment, growth, projects, and current direction.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50000" y="520000"/>
            <a:ext cx="8200000" cy="850000"/>
          </a:xfrm>
        </p:spPr>
        <p:txBody>
          <a:bodyPr/>
          <a:lstStyle/>
          <a:p>
            <a:r>
              <a:rPr lang="en-US" sz="4200" b="1">
                <a:solidFill>
                  <a:srgbClr val="0F172A"/>
                </a:solidFill>
              </a:rPr>
              <a:t>Objectives</a:t>
            </a:r>
          </a:p>
        </p:txBody>
      </p:sp>
      <p:sp>
        <p:nvSpPr>
          <p:cNvPr id="1800000" name="Bullet"/>
          <p:cNvSpPr/>
          <p:nvPr/>
        </p:nvSpPr>
        <p:spPr>
          <a:xfrm>
            <a:off x="850000" y="1800000"/>
            <a:ext cx="7600000" cy="420000"/>
          </a:xfrm>
        </p:spPr>
        <p:txBody>
          <a:bodyPr/>
          <a:lstStyle/>
          <a:p>
            <a:r>
              <a:rPr lang="en-US" sz="2600"/>
              <a:t>Upload and analyze resume PDFs.</a:t>
            </a:r>
          </a:p>
        </p:txBody>
      </p:sp>
      <p:sp>
        <p:nvSpPr>
          <p:cNvPr id="2360000" name="Bullet"/>
          <p:cNvSpPr/>
          <p:nvPr/>
        </p:nvSpPr>
        <p:spPr>
          <a:xfrm>
            <a:off x="850000" y="2360000"/>
            <a:ext cx="7600000" cy="420000"/>
          </a:xfrm>
        </p:spPr>
        <p:txBody>
          <a:bodyPr/>
          <a:lstStyle/>
          <a:p>
            <a:r>
              <a:rPr lang="en-US" sz="2600"/>
              <a:t>Receive resumes automatically from Google Forms.</a:t>
            </a:r>
          </a:p>
        </p:txBody>
      </p:sp>
      <p:sp>
        <p:nvSpPr>
          <p:cNvPr id="2920000" name="Bullet"/>
          <p:cNvSpPr/>
          <p:nvPr/>
        </p:nvSpPr>
        <p:spPr>
          <a:xfrm>
            <a:off x="850000" y="2920000"/>
            <a:ext cx="7600000" cy="420000"/>
          </a:xfrm>
        </p:spPr>
        <p:txBody>
          <a:bodyPr/>
          <a:lstStyle/>
          <a:p>
            <a:r>
              <a:rPr lang="en-US" sz="2600"/>
              <a:t>Maintain candidates as active for 6 months.</a:t>
            </a:r>
          </a:p>
        </p:txBody>
      </p:sp>
      <p:sp>
        <p:nvSpPr>
          <p:cNvPr id="3480000" name="Bullet"/>
          <p:cNvSpPr/>
          <p:nvPr/>
        </p:nvSpPr>
        <p:spPr>
          <a:xfrm>
            <a:off x="850000" y="3480000"/>
            <a:ext cx="7600000" cy="420000"/>
          </a:xfrm>
        </p:spPr>
        <p:txBody>
          <a:bodyPr/>
          <a:lstStyle/>
          <a:p>
            <a:r>
              <a:rPr lang="en-US" sz="2600"/>
              <a:t>Store company growth details in Pinecone.</a:t>
            </a:r>
          </a:p>
        </p:txBody>
      </p:sp>
      <p:sp>
        <p:nvSpPr>
          <p:cNvPr id="4040000" name="Bullet"/>
          <p:cNvSpPr/>
          <p:nvPr/>
        </p:nvSpPr>
        <p:spPr>
          <a:xfrm>
            <a:off x="850000" y="4040000"/>
            <a:ext cx="7600000" cy="420000"/>
          </a:xfrm>
        </p:spPr>
        <p:txBody>
          <a:bodyPr/>
          <a:lstStyle/>
          <a:p>
            <a:r>
              <a:rPr lang="en-US" sz="2600"/>
              <a:t>Rank candidates for each company role.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50000" y="520000"/>
            <a:ext cx="8200000" cy="850000"/>
          </a:xfrm>
        </p:spPr>
        <p:txBody>
          <a:bodyPr/>
          <a:lstStyle/>
          <a:p>
            <a:r>
              <a:rPr lang="en-US" sz="4200" b="1">
                <a:solidFill>
                  <a:srgbClr val="0F172A"/>
                </a:solidFill>
              </a:rPr>
              <a:t>System Architecture</a:t>
            </a:r>
          </a:p>
        </p:txBody>
      </p:sp>
      <p:sp>
        <p:nvSpPr>
          <p:cNvPr id="1800000" name="Bullet"/>
          <p:cNvSpPr/>
          <p:nvPr/>
        </p:nvSpPr>
        <p:spPr>
          <a:xfrm>
            <a:off x="850000" y="1800000"/>
            <a:ext cx="7600000" cy="420000"/>
          </a:xfrm>
        </p:spPr>
        <p:txBody>
          <a:bodyPr/>
          <a:lstStyle/>
          <a:p>
            <a:r>
              <a:rPr lang="en-US" sz="2600"/>
              <a:t>Google Form sends resume data through Apps Script.</a:t>
            </a:r>
          </a:p>
        </p:txBody>
      </p:sp>
      <p:sp>
        <p:nvSpPr>
          <p:cNvPr id="2360000" name="Bullet"/>
          <p:cNvSpPr/>
          <p:nvPr/>
        </p:nvSpPr>
        <p:spPr>
          <a:xfrm>
            <a:off x="850000" y="2360000"/>
            <a:ext cx="7600000" cy="420000"/>
          </a:xfrm>
        </p:spPr>
        <p:txBody>
          <a:bodyPr/>
          <a:lstStyle/>
          <a:p>
            <a:r>
              <a:rPr lang="en-US" sz="2600"/>
              <a:t>FastAPI intake stores candidate records.</a:t>
            </a:r>
          </a:p>
        </p:txBody>
      </p:sp>
      <p:sp>
        <p:nvSpPr>
          <p:cNvPr id="2920000" name="Bullet"/>
          <p:cNvSpPr/>
          <p:nvPr/>
        </p:nvSpPr>
        <p:spPr>
          <a:xfrm>
            <a:off x="850000" y="2920000"/>
            <a:ext cx="7600000" cy="420000"/>
          </a:xfrm>
        </p:spPr>
        <p:txBody>
          <a:bodyPr/>
          <a:lstStyle/>
          <a:p>
            <a:r>
              <a:rPr lang="en-US" sz="2600"/>
              <a:t>Pinecone stores resume vectors.</a:t>
            </a:r>
          </a:p>
        </p:txBody>
      </p:sp>
      <p:sp>
        <p:nvSpPr>
          <p:cNvPr id="3480000" name="Bullet"/>
          <p:cNvSpPr/>
          <p:nvPr/>
        </p:nvSpPr>
        <p:spPr>
          <a:xfrm>
            <a:off x="850000" y="3480000"/>
            <a:ext cx="7600000" cy="420000"/>
          </a:xfrm>
        </p:spPr>
        <p:txBody>
          <a:bodyPr/>
          <a:lstStyle/>
          <a:p>
            <a:r>
              <a:rPr lang="en-US" sz="2600"/>
              <a:t>Pinecone also stores company knowledge vectors.</a:t>
            </a:r>
          </a:p>
        </p:txBody>
      </p:sp>
      <p:sp>
        <p:nvSpPr>
          <p:cNvPr id="4040000" name="Bullet"/>
          <p:cNvSpPr/>
          <p:nvPr/>
        </p:nvSpPr>
        <p:spPr>
          <a:xfrm>
            <a:off x="850000" y="4040000"/>
            <a:ext cx="7600000" cy="420000"/>
          </a:xfrm>
        </p:spPr>
        <p:txBody>
          <a:bodyPr/>
          <a:lstStyle/>
          <a:p>
            <a:r>
              <a:rPr lang="en-US" sz="2600"/>
              <a:t>Streamlit dashboard ranks active candidates.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50000" y="520000"/>
            <a:ext cx="8200000" cy="850000"/>
          </a:xfrm>
        </p:spPr>
        <p:txBody>
          <a:bodyPr/>
          <a:lstStyle/>
          <a:p>
            <a:r>
              <a:rPr lang="en-US" sz="4200" b="1">
                <a:solidFill>
                  <a:srgbClr val="0F172A"/>
                </a:solidFill>
              </a:rPr>
              <a:t>Main Modules</a:t>
            </a:r>
          </a:p>
        </p:txBody>
      </p:sp>
      <p:sp>
        <p:nvSpPr>
          <p:cNvPr id="1800000" name="Bullet"/>
          <p:cNvSpPr/>
          <p:nvPr/>
        </p:nvSpPr>
        <p:spPr>
          <a:xfrm>
            <a:off x="850000" y="1800000"/>
            <a:ext cx="7600000" cy="420000"/>
          </a:xfrm>
        </p:spPr>
        <p:txBody>
          <a:bodyPr/>
          <a:lstStyle/>
          <a:p>
            <a:r>
              <a:rPr lang="en-US" sz="2600"/>
              <a:t>PDF text extraction</a:t>
            </a:r>
          </a:p>
        </p:txBody>
      </p:sp>
      <p:sp>
        <p:nvSpPr>
          <p:cNvPr id="2360000" name="Bullet"/>
          <p:cNvSpPr/>
          <p:nvPr/>
        </p:nvSpPr>
        <p:spPr>
          <a:xfrm>
            <a:off x="850000" y="2360000"/>
            <a:ext cx="7600000" cy="420000"/>
          </a:xfrm>
        </p:spPr>
        <p:txBody>
          <a:bodyPr/>
          <a:lstStyle/>
          <a:p>
            <a:r>
              <a:rPr lang="en-US" sz="2600"/>
              <a:t>Skill and section detection</a:t>
            </a:r>
          </a:p>
        </p:txBody>
      </p:sp>
      <p:sp>
        <p:nvSpPr>
          <p:cNvPr id="2920000" name="Bullet"/>
          <p:cNvSpPr/>
          <p:nvPr/>
        </p:nvSpPr>
        <p:spPr>
          <a:xfrm>
            <a:off x="850000" y="2920000"/>
            <a:ext cx="7600000" cy="420000"/>
          </a:xfrm>
        </p:spPr>
        <p:txBody>
          <a:bodyPr/>
          <a:lstStyle/>
          <a:p>
            <a:r>
              <a:rPr lang="en-US" sz="2600"/>
              <a:t>Candidate database</a:t>
            </a:r>
          </a:p>
        </p:txBody>
      </p:sp>
      <p:sp>
        <p:nvSpPr>
          <p:cNvPr id="3480000" name="Bullet"/>
          <p:cNvSpPr/>
          <p:nvPr/>
        </p:nvSpPr>
        <p:spPr>
          <a:xfrm>
            <a:off x="850000" y="3480000"/>
            <a:ext cx="7600000" cy="420000"/>
          </a:xfrm>
        </p:spPr>
        <p:txBody>
          <a:bodyPr/>
          <a:lstStyle/>
          <a:p>
            <a:r>
              <a:rPr lang="en-US" sz="2600"/>
              <a:t>Company growth knowledge base</a:t>
            </a:r>
          </a:p>
        </p:txBody>
      </p:sp>
      <p:sp>
        <p:nvSpPr>
          <p:cNvPr id="4040000" name="Bullet"/>
          <p:cNvSpPr/>
          <p:nvPr/>
        </p:nvSpPr>
        <p:spPr>
          <a:xfrm>
            <a:off x="850000" y="4040000"/>
            <a:ext cx="7600000" cy="420000"/>
          </a:xfrm>
        </p:spPr>
        <p:txBody>
          <a:bodyPr/>
          <a:lstStyle/>
          <a:p>
            <a:r>
              <a:rPr lang="en-US" sz="2600"/>
              <a:t>Apps Script intake</a:t>
            </a:r>
          </a:p>
        </p:txBody>
      </p:sp>
      <p:sp>
        <p:nvSpPr>
          <p:cNvPr id="4600000" name="Bullet"/>
          <p:cNvSpPr/>
          <p:nvPr/>
        </p:nvSpPr>
        <p:spPr>
          <a:xfrm>
            <a:off x="850000" y="4600000"/>
            <a:ext cx="7600000" cy="420000"/>
          </a:xfrm>
        </p:spPr>
        <p:txBody>
          <a:bodyPr/>
          <a:lstStyle/>
          <a:p>
            <a:r>
              <a:rPr lang="en-US" sz="2600"/>
              <a:t>Pinecone vector search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50000" y="520000"/>
            <a:ext cx="8200000" cy="850000"/>
          </a:xfrm>
        </p:spPr>
        <p:txBody>
          <a:bodyPr/>
          <a:lstStyle/>
          <a:p>
            <a:r>
              <a:rPr lang="en-US" sz="4200" b="1">
                <a:solidFill>
                  <a:srgbClr val="0F172A"/>
                </a:solidFill>
              </a:rPr>
              <a:t>Pinecone Design</a:t>
            </a:r>
          </a:p>
        </p:txBody>
      </p:sp>
      <p:sp>
        <p:nvSpPr>
          <p:cNvPr id="1800000" name="Bullet"/>
          <p:cNvSpPr/>
          <p:nvPr/>
        </p:nvSpPr>
        <p:spPr>
          <a:xfrm>
            <a:off x="850000" y="1800000"/>
            <a:ext cx="7600000" cy="420000"/>
          </a:xfrm>
        </p:spPr>
        <p:txBody>
          <a:bodyPr/>
          <a:lstStyle/>
          <a:p>
            <a:r>
              <a:rPr lang="en-US" sz="2600"/>
              <a:t>candidate_resume records store resume vectors and metadata.</a:t>
            </a:r>
          </a:p>
        </p:txBody>
      </p:sp>
      <p:sp>
        <p:nvSpPr>
          <p:cNvPr id="2360000" name="Bullet"/>
          <p:cNvSpPr/>
          <p:nvPr/>
        </p:nvSpPr>
        <p:spPr>
          <a:xfrm>
            <a:off x="850000" y="2360000"/>
            <a:ext cx="7600000" cy="420000"/>
          </a:xfrm>
        </p:spPr>
        <p:txBody>
          <a:bodyPr/>
          <a:lstStyle/>
          <a:p>
            <a:r>
              <a:rPr lang="en-US" sz="2600"/>
              <a:t>company_knowledge records store establishment and growth data.</a:t>
            </a:r>
          </a:p>
        </p:txBody>
      </p:sp>
      <p:sp>
        <p:nvSpPr>
          <p:cNvPr id="2920000" name="Bullet"/>
          <p:cNvSpPr/>
          <p:nvPr/>
        </p:nvSpPr>
        <p:spPr>
          <a:xfrm>
            <a:off x="850000" y="2920000"/>
            <a:ext cx="7600000" cy="420000"/>
          </a:xfrm>
        </p:spPr>
        <p:txBody>
          <a:bodyPr/>
          <a:lstStyle/>
          <a:p>
            <a:r>
              <a:rPr lang="en-US" sz="2600"/>
              <a:t>Role matching can use both candidate data and company context.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50000" y="520000"/>
            <a:ext cx="8200000" cy="850000"/>
          </a:xfrm>
        </p:spPr>
        <p:txBody>
          <a:bodyPr/>
          <a:lstStyle/>
          <a:p>
            <a:r>
              <a:rPr lang="en-US" sz="4200" b="1">
                <a:solidFill>
                  <a:srgbClr val="0F172A"/>
                </a:solidFill>
              </a:rPr>
              <a:t>Scoring Logic</a:t>
            </a:r>
          </a:p>
        </p:txBody>
      </p:sp>
      <p:sp>
        <p:nvSpPr>
          <p:cNvPr id="1800000" name="Bullet"/>
          <p:cNvSpPr/>
          <p:nvPr/>
        </p:nvSpPr>
        <p:spPr>
          <a:xfrm>
            <a:off x="850000" y="1800000"/>
            <a:ext cx="7600000" cy="420000"/>
          </a:xfrm>
        </p:spPr>
        <p:txBody>
          <a:bodyPr/>
          <a:lstStyle/>
          <a:p>
            <a:r>
              <a:rPr lang="en-US" sz="2600"/>
              <a:t>Skill match: 30 percent</a:t>
            </a:r>
          </a:p>
        </p:txBody>
      </p:sp>
      <p:sp>
        <p:nvSpPr>
          <p:cNvPr id="2360000" name="Bullet"/>
          <p:cNvSpPr/>
          <p:nvPr/>
        </p:nvSpPr>
        <p:spPr>
          <a:xfrm>
            <a:off x="850000" y="2360000"/>
            <a:ext cx="7600000" cy="420000"/>
          </a:xfrm>
        </p:spPr>
        <p:txBody>
          <a:bodyPr/>
          <a:lstStyle/>
          <a:p>
            <a:r>
              <a:rPr lang="en-US" sz="2600"/>
              <a:t>Semantic similarity: 25 percent</a:t>
            </a:r>
          </a:p>
        </p:txBody>
      </p:sp>
      <p:sp>
        <p:nvSpPr>
          <p:cNvPr id="2920000" name="Bullet"/>
          <p:cNvSpPr/>
          <p:nvPr/>
        </p:nvSpPr>
        <p:spPr>
          <a:xfrm>
            <a:off x="850000" y="2920000"/>
            <a:ext cx="7600000" cy="420000"/>
          </a:xfrm>
        </p:spPr>
        <p:txBody>
          <a:bodyPr/>
          <a:lstStyle/>
          <a:p>
            <a:r>
              <a:rPr lang="en-US" sz="2600"/>
              <a:t>Section completeness: 20 percent</a:t>
            </a:r>
          </a:p>
        </p:txBody>
      </p:sp>
      <p:sp>
        <p:nvSpPr>
          <p:cNvPr id="3480000" name="Bullet"/>
          <p:cNvSpPr/>
          <p:nvPr/>
        </p:nvSpPr>
        <p:spPr>
          <a:xfrm>
            <a:off x="850000" y="3480000"/>
            <a:ext cx="7600000" cy="420000"/>
          </a:xfrm>
        </p:spPr>
        <p:txBody>
          <a:bodyPr/>
          <a:lstStyle/>
          <a:p>
            <a:r>
              <a:rPr lang="en-US" sz="2600"/>
              <a:t>Keyword overlap: 15 percent</a:t>
            </a:r>
          </a:p>
        </p:txBody>
      </p:sp>
      <p:sp>
        <p:nvSpPr>
          <p:cNvPr id="4040000" name="Bullet"/>
          <p:cNvSpPr/>
          <p:nvPr/>
        </p:nvSpPr>
        <p:spPr>
          <a:xfrm>
            <a:off x="850000" y="4040000"/>
            <a:ext cx="7600000" cy="420000"/>
          </a:xfrm>
        </p:spPr>
        <p:txBody>
          <a:bodyPr/>
          <a:lstStyle/>
          <a:p>
            <a:r>
              <a:rPr lang="en-US" sz="2600"/>
              <a:t>Contact and length quality: 10 percent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50000" y="520000"/>
            <a:ext cx="8200000" cy="850000"/>
          </a:xfrm>
        </p:spPr>
        <p:txBody>
          <a:bodyPr/>
          <a:lstStyle/>
          <a:p>
            <a:r>
              <a:rPr lang="en-US" sz="4200" b="1">
                <a:solidFill>
                  <a:srgbClr val="0F172A"/>
                </a:solidFill>
              </a:rPr>
              <a:t>User Interface</a:t>
            </a:r>
          </a:p>
        </p:txBody>
      </p:sp>
      <p:sp>
        <p:nvSpPr>
          <p:cNvPr id="1800000" name="Bullet"/>
          <p:cNvSpPr/>
          <p:nvPr/>
        </p:nvSpPr>
        <p:spPr>
          <a:xfrm>
            <a:off x="850000" y="1800000"/>
            <a:ext cx="7600000" cy="420000"/>
          </a:xfrm>
        </p:spPr>
        <p:txBody>
          <a:bodyPr/>
          <a:lstStyle/>
          <a:p>
            <a:r>
              <a:rPr lang="en-US" sz="2600"/>
              <a:t>Single resume analyzer</a:t>
            </a:r>
          </a:p>
        </p:txBody>
      </p:sp>
      <p:sp>
        <p:nvSpPr>
          <p:cNvPr id="2360000" name="Bullet"/>
          <p:cNvSpPr/>
          <p:nvPr/>
        </p:nvSpPr>
        <p:spPr>
          <a:xfrm>
            <a:off x="850000" y="2360000"/>
            <a:ext cx="7600000" cy="420000"/>
          </a:xfrm>
        </p:spPr>
        <p:txBody>
          <a:bodyPr/>
          <a:lstStyle/>
          <a:p>
            <a:r>
              <a:rPr lang="en-US" sz="2600"/>
              <a:t>Company candidate intake</a:t>
            </a:r>
          </a:p>
        </p:txBody>
      </p:sp>
      <p:sp>
        <p:nvSpPr>
          <p:cNvPr id="2920000" name="Bullet"/>
          <p:cNvSpPr/>
          <p:nvPr/>
        </p:nvSpPr>
        <p:spPr>
          <a:xfrm>
            <a:off x="850000" y="2920000"/>
            <a:ext cx="7600000" cy="420000"/>
          </a:xfrm>
        </p:spPr>
        <p:txBody>
          <a:bodyPr/>
          <a:lstStyle/>
          <a:p>
            <a:r>
              <a:rPr lang="en-US" sz="2600"/>
              <a:t>Company growth timeline</a:t>
            </a:r>
          </a:p>
        </p:txBody>
      </p:sp>
      <p:sp>
        <p:nvSpPr>
          <p:cNvPr id="3480000" name="Bullet"/>
          <p:cNvSpPr/>
          <p:nvPr/>
        </p:nvSpPr>
        <p:spPr>
          <a:xfrm>
            <a:off x="850000" y="3480000"/>
            <a:ext cx="7600000" cy="420000"/>
          </a:xfrm>
        </p:spPr>
        <p:txBody>
          <a:bodyPr/>
          <a:lstStyle/>
          <a:p>
            <a:r>
              <a:rPr lang="en-US" sz="2600"/>
              <a:t>Active candidate database</a:t>
            </a:r>
          </a:p>
        </p:txBody>
      </p:sp>
      <p:sp>
        <p:nvSpPr>
          <p:cNvPr id="4040000" name="Bullet"/>
          <p:cNvSpPr/>
          <p:nvPr/>
        </p:nvSpPr>
        <p:spPr>
          <a:xfrm>
            <a:off x="850000" y="4040000"/>
            <a:ext cx="7600000" cy="420000"/>
          </a:xfrm>
        </p:spPr>
        <p:txBody>
          <a:bodyPr/>
          <a:lstStyle/>
          <a:p>
            <a:r>
              <a:rPr lang="en-US" sz="2600"/>
              <a:t>Role matching dashboard</a:t>
            </a:r>
          </a:p>
        </p:txBody>
      </p:sp>
      <p:sp>
        <p:nvSpPr>
          <p:cNvPr id="4600000" name="Bullet"/>
          <p:cNvSpPr/>
          <p:nvPr/>
        </p:nvSpPr>
        <p:spPr>
          <a:xfrm>
            <a:off x="850000" y="4600000"/>
            <a:ext cx="7600000" cy="420000"/>
          </a:xfrm>
        </p:spPr>
        <p:txBody>
          <a:bodyPr/>
          <a:lstStyle/>
          <a:p>
            <a:r>
              <a:rPr lang="en-US" sz="2600"/>
              <a:t>CSV shortlist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50000" y="520000"/>
            <a:ext cx="8200000" cy="850000"/>
          </a:xfrm>
        </p:spPr>
        <p:txBody>
          <a:bodyPr/>
          <a:lstStyle/>
          <a:p>
            <a:r>
              <a:rPr lang="en-US" sz="4200" b="1">
                <a:solidFill>
                  <a:srgbClr val="0F172A"/>
                </a:solidFill>
              </a:rPr>
              <a:t>Results</a:t>
            </a:r>
          </a:p>
        </p:txBody>
      </p:sp>
      <p:sp>
        <p:nvSpPr>
          <p:cNvPr id="1800000" name="Bullet"/>
          <p:cNvSpPr/>
          <p:nvPr/>
        </p:nvSpPr>
        <p:spPr>
          <a:xfrm>
            <a:off x="850000" y="1800000"/>
            <a:ext cx="7600000" cy="420000"/>
          </a:xfrm>
        </p:spPr>
        <p:txBody>
          <a:bodyPr/>
          <a:lstStyle/>
          <a:p>
            <a:r>
              <a:rPr lang="en-US" sz="2600"/>
              <a:t>ATS score out of 100</a:t>
            </a:r>
          </a:p>
        </p:txBody>
      </p:sp>
      <p:sp>
        <p:nvSpPr>
          <p:cNvPr id="2360000" name="Bullet"/>
          <p:cNvSpPr/>
          <p:nvPr/>
        </p:nvSpPr>
        <p:spPr>
          <a:xfrm>
            <a:off x="850000" y="2360000"/>
            <a:ext cx="7600000" cy="420000"/>
          </a:xfrm>
        </p:spPr>
        <p:txBody>
          <a:bodyPr/>
          <a:lstStyle/>
          <a:p>
            <a:r>
              <a:rPr lang="en-US" sz="2600"/>
              <a:t>Strengths and weaknesses</a:t>
            </a:r>
          </a:p>
        </p:txBody>
      </p:sp>
      <p:sp>
        <p:nvSpPr>
          <p:cNvPr id="2920000" name="Bullet"/>
          <p:cNvSpPr/>
          <p:nvPr/>
        </p:nvSpPr>
        <p:spPr>
          <a:xfrm>
            <a:off x="850000" y="2920000"/>
            <a:ext cx="7600000" cy="420000"/>
          </a:xfrm>
        </p:spPr>
        <p:txBody>
          <a:bodyPr/>
          <a:lstStyle/>
          <a:p>
            <a:r>
              <a:rPr lang="en-US" sz="2600"/>
              <a:t>Missing job skills</a:t>
            </a:r>
          </a:p>
        </p:txBody>
      </p:sp>
      <p:sp>
        <p:nvSpPr>
          <p:cNvPr id="3480000" name="Bullet"/>
          <p:cNvSpPr/>
          <p:nvPr/>
        </p:nvSpPr>
        <p:spPr>
          <a:xfrm>
            <a:off x="850000" y="3480000"/>
            <a:ext cx="7600000" cy="420000"/>
          </a:xfrm>
        </p:spPr>
        <p:txBody>
          <a:bodyPr/>
          <a:lstStyle/>
          <a:p>
            <a:r>
              <a:rPr lang="en-US" sz="2600"/>
              <a:t>Candidate expiry date</a:t>
            </a:r>
          </a:p>
        </p:txBody>
      </p:sp>
      <p:sp>
        <p:nvSpPr>
          <p:cNvPr id="4040000" name="Bullet"/>
          <p:cNvSpPr/>
          <p:nvPr/>
        </p:nvSpPr>
        <p:spPr>
          <a:xfrm>
            <a:off x="850000" y="4040000"/>
            <a:ext cx="7600000" cy="420000"/>
          </a:xfrm>
        </p:spPr>
        <p:txBody>
          <a:bodyPr/>
          <a:lstStyle/>
          <a:p>
            <a:r>
              <a:rPr lang="en-US" sz="2600"/>
              <a:t>Company requirement context</a:t>
            </a:r>
          </a:p>
        </p:txBody>
      </p:sp>
      <p:sp>
        <p:nvSpPr>
          <p:cNvPr id="4600000" name="Bullet"/>
          <p:cNvSpPr/>
          <p:nvPr/>
        </p:nvSpPr>
        <p:spPr>
          <a:xfrm>
            <a:off x="850000" y="4600000"/>
            <a:ext cx="7600000" cy="420000"/>
          </a:xfrm>
        </p:spPr>
        <p:txBody>
          <a:bodyPr/>
          <a:lstStyle/>
          <a:p>
            <a:r>
              <a:rPr lang="en-US" sz="2600"/>
              <a:t>Best-fit role shortlist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50000" y="520000"/>
            <a:ext cx="8200000" cy="850000"/>
          </a:xfrm>
        </p:spPr>
        <p:txBody>
          <a:bodyPr/>
          <a:lstStyle/>
          <a:p>
            <a:r>
              <a:rPr lang="en-US" sz="4200" b="1">
                <a:solidFill>
                  <a:srgbClr val="0F172A"/>
                </a:solidFill>
              </a:rPr>
              <a:t>Deployment</a:t>
            </a:r>
          </a:p>
        </p:txBody>
      </p:sp>
      <p:sp>
        <p:nvSpPr>
          <p:cNvPr id="1800000" name="Bullet"/>
          <p:cNvSpPr/>
          <p:nvPr/>
        </p:nvSpPr>
        <p:spPr>
          <a:xfrm>
            <a:off x="850000" y="1800000"/>
            <a:ext cx="7600000" cy="420000"/>
          </a:xfrm>
        </p:spPr>
        <p:txBody>
          <a:bodyPr/>
          <a:lstStyle/>
          <a:p>
            <a:r>
              <a:rPr lang="en-US" sz="2600"/>
              <a:t>Dashboard deploys on Streamlit Cloud.</a:t>
            </a:r>
          </a:p>
        </p:txBody>
      </p:sp>
      <p:sp>
        <p:nvSpPr>
          <p:cNvPr id="2360000" name="Bullet"/>
          <p:cNvSpPr/>
          <p:nvPr/>
        </p:nvSpPr>
        <p:spPr>
          <a:xfrm>
            <a:off x="850000" y="2360000"/>
            <a:ext cx="7600000" cy="420000"/>
          </a:xfrm>
        </p:spPr>
        <p:txBody>
          <a:bodyPr/>
          <a:lstStyle/>
          <a:p>
            <a:r>
              <a:rPr lang="en-US" sz="2600"/>
              <a:t>Webhook API deploys on Render.</a:t>
            </a:r>
          </a:p>
        </p:txBody>
      </p:sp>
      <p:sp>
        <p:nvSpPr>
          <p:cNvPr id="2920000" name="Bullet"/>
          <p:cNvSpPr/>
          <p:nvPr/>
        </p:nvSpPr>
        <p:spPr>
          <a:xfrm>
            <a:off x="850000" y="2920000"/>
            <a:ext cx="7600000" cy="420000"/>
          </a:xfrm>
        </p:spPr>
        <p:txBody>
          <a:bodyPr/>
          <a:lstStyle/>
          <a:p>
            <a:r>
              <a:rPr lang="en-US" sz="2600"/>
              <a:t>Apps Script connects Google Form to API.</a:t>
            </a:r>
          </a:p>
        </p:txBody>
      </p:sp>
      <p:sp>
        <p:nvSpPr>
          <p:cNvPr id="3480000" name="Bullet"/>
          <p:cNvSpPr/>
          <p:nvPr/>
        </p:nvSpPr>
        <p:spPr>
          <a:xfrm>
            <a:off x="850000" y="3480000"/>
            <a:ext cx="7600000" cy="420000"/>
          </a:xfrm>
        </p:spPr>
        <p:txBody>
          <a:bodyPr/>
          <a:lstStyle/>
          <a:p>
            <a:r>
              <a:rPr lang="en-US" sz="2600"/>
              <a:t>Pinecone is optional with local fallback.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50000" y="520000"/>
            <a:ext cx="8200000" cy="850000"/>
          </a:xfrm>
        </p:spPr>
        <p:txBody>
          <a:bodyPr/>
          <a:lstStyle/>
          <a:p>
            <a:r>
              <a:rPr lang="en-US" sz="4200" b="1">
                <a:solidFill>
                  <a:srgbClr val="0F172A"/>
                </a:solidFill>
              </a:rPr>
              <a:t>Conclusion</a:t>
            </a:r>
          </a:p>
        </p:txBody>
      </p:sp>
      <p:sp>
        <p:nvSpPr>
          <p:cNvPr id="1800000" name="Bullet"/>
          <p:cNvSpPr/>
          <p:nvPr/>
        </p:nvSpPr>
        <p:spPr>
          <a:xfrm>
            <a:off x="850000" y="1800000"/>
            <a:ext cx="7600000" cy="420000"/>
          </a:xfrm>
        </p:spPr>
        <p:txBody>
          <a:bodyPr/>
          <a:lstStyle/>
          <a:p>
            <a:r>
              <a:rPr lang="en-US" sz="2600"/>
              <a:t>The project helps students and companies.</a:t>
            </a:r>
          </a:p>
        </p:txBody>
      </p:sp>
      <p:sp>
        <p:nvSpPr>
          <p:cNvPr id="2360000" name="Bullet"/>
          <p:cNvSpPr/>
          <p:nvPr/>
        </p:nvSpPr>
        <p:spPr>
          <a:xfrm>
            <a:off x="850000" y="2360000"/>
            <a:ext cx="7600000" cy="420000"/>
          </a:xfrm>
        </p:spPr>
        <p:txBody>
          <a:bodyPr/>
          <a:lstStyle/>
          <a:p>
            <a:r>
              <a:rPr lang="en-US" sz="2600"/>
              <a:t>It automates intake, scoring, and retrieval.</a:t>
            </a:r>
          </a:p>
        </p:txBody>
      </p:sp>
      <p:sp>
        <p:nvSpPr>
          <p:cNvPr id="2920000" name="Bullet"/>
          <p:cNvSpPr/>
          <p:nvPr/>
        </p:nvSpPr>
        <p:spPr>
          <a:xfrm>
            <a:off x="850000" y="2920000"/>
            <a:ext cx="7600000" cy="420000"/>
          </a:xfrm>
        </p:spPr>
        <p:txBody>
          <a:bodyPr/>
          <a:lstStyle/>
          <a:p>
            <a:r>
              <a:rPr lang="en-US" sz="2600"/>
              <a:t>It uses company growth history for better hiring decisions.</a:t>
            </a:r>
          </a:p>
        </p:txBody>
      </p:sp>
      <p:sp>
        <p:nvSpPr>
          <p:cNvPr id="3480000" name="Bullet"/>
          <p:cNvSpPr/>
          <p:nvPr/>
        </p:nvSpPr>
        <p:spPr>
          <a:xfrm>
            <a:off x="850000" y="3480000"/>
            <a:ext cx="7600000" cy="420000"/>
          </a:xfrm>
        </p:spPr>
        <p:txBody>
          <a:bodyPr/>
          <a:lstStyle/>
          <a:p>
            <a:r>
              <a:rPr lang="en-US" sz="2600"/>
              <a:t>It is deployable and presentation-ready.</a:t>
            </a:r>
          </a:p>
        </p:txBody>
      </p:sp>
    </p:spTree>
  </p:cSld>
  <p:clrMapOvr>
    <a:masterClrMapping/>
  </p:clrMapOvr>
</p:sld>
</file>